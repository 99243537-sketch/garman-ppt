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社区阅读推广年度汇报
城东街道文化服务中心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一、全年工作成效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【点击 1】全年举办亲子共读活动48场，参与家庭1600余户。
【点击 2】新建社区书屋6处，新增图书2.3万册。
【点击 3】招募阅读志愿者210名，累计服务4800小时。
【点击 4 · 全部恢复】阅读已经成为社区居民的日常生活方式。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二、明年工作打算
把书屋延伸到每一个小区，让居民步行十分钟就能借到书。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1"/>
          <p:cNvSpPr/>
          <p:nvPr/>
        </p:nvSpPr>
        <p:spPr>
          <a:xfrm>
            <a:off x="731520" y="1097280"/>
            <a:ext cx="8229600" cy="3749040"/>
          </a:xfrm>
          <a:prstGeom prst="roundRect">
            <a:avLst>
              <a:gd name="adj" fmla="val 2927"/>
            </a:avLst>
          </a:prstGeom>
          <a:blipFill>
            <a:blip r:embed="rId2"/>
            <a:srcRect l="6000" t="16000" r="26500" b="293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2"/>
          <p:cNvSpPr txBox="1"/>
          <p:nvPr/>
        </p:nvSpPr>
        <p:spPr>
          <a:xfrm>
            <a:off x="1097280" y="1417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B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城东街道文化服务中心</a:t>
            </a:r>
            <a:endParaRPr lang="en-US" sz="1800" dirty="0"/>
          </a:p>
        </p:txBody>
      </p:sp>
      <p:sp>
        <p:nvSpPr>
          <p:cNvPr id="5" name="text-3"/>
          <p:cNvSpPr txBox="1"/>
          <p:nvPr/>
        </p:nvSpPr>
        <p:spPr>
          <a:xfrm>
            <a:off x="1097280" y="2011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社区阅读推广年度汇报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4"/>
          <p:cNvSpPr/>
          <p:nvPr/>
        </p:nvSpPr>
        <p:spPr>
          <a:xfrm>
            <a:off x="365760" y="256032"/>
            <a:ext cx="11460175" cy="1298448"/>
          </a:xfrm>
          <a:prstGeom prst="roundRect">
            <a:avLst>
              <a:gd name="adj" fmla="val 8451"/>
            </a:avLst>
          </a:prstGeom>
          <a:blipFill>
            <a:blip r:embed="rId2"/>
            <a:srcRect l="3000" t="3733" r="3003" b="773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5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5" name="glass-6"/>
          <p:cNvSpPr/>
          <p:nvPr/>
        </p:nvSpPr>
        <p:spPr>
          <a:xfrm>
            <a:off x="548640" y="1691640"/>
            <a:ext cx="11094415" cy="694944"/>
          </a:xfrm>
          <a:prstGeom prst="roundRect">
            <a:avLst>
              <a:gd name="adj" fmla="val 15789"/>
            </a:avLst>
          </a:prstGeom>
          <a:blipFill>
            <a:blip r:embed="rId2"/>
            <a:srcRect l="4500" t="24667" r="4503" b="65200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6" name="chip-7"/>
          <p:cNvSpPr/>
          <p:nvPr/>
        </p:nvSpPr>
        <p:spPr>
          <a:xfrm>
            <a:off x="777240" y="182880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55BCFA"/>
          </a:solidFill>
          <a:ln w="12700">
            <a:solidFill>
              <a:srgbClr val="55BCFA"/>
            </a:solidFill>
            <a:prstDash val="solid"/>
          </a:ln>
        </p:spPr>
      </p:sp>
      <p:sp>
        <p:nvSpPr>
          <p:cNvPr id="7" name="text-8"/>
          <p:cNvSpPr txBox="1"/>
          <p:nvPr/>
        </p:nvSpPr>
        <p:spPr>
          <a:xfrm>
            <a:off x="7772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9"/>
          <p:cNvSpPr txBox="1"/>
          <p:nvPr/>
        </p:nvSpPr>
        <p:spPr>
          <a:xfrm>
            <a:off x="1463040" y="1691640"/>
            <a:ext cx="9997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全年工作成效</a:t>
            </a:r>
            <a:endParaRPr lang="en-US" sz="2000" dirty="0"/>
          </a:p>
        </p:txBody>
      </p:sp>
      <p:sp>
        <p:nvSpPr>
          <p:cNvPr id="9" name="glass-10"/>
          <p:cNvSpPr/>
          <p:nvPr/>
        </p:nvSpPr>
        <p:spPr>
          <a:xfrm>
            <a:off x="548640" y="2532888"/>
            <a:ext cx="11094415" cy="694944"/>
          </a:xfrm>
          <a:prstGeom prst="roundRect">
            <a:avLst>
              <a:gd name="adj" fmla="val 15789"/>
            </a:avLst>
          </a:prstGeom>
          <a:blipFill>
            <a:blip r:embed="rId2"/>
            <a:srcRect l="4500" t="36933" r="4503" b="529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10" name="chip-11"/>
          <p:cNvSpPr/>
          <p:nvPr/>
        </p:nvSpPr>
        <p:spPr>
          <a:xfrm>
            <a:off x="777240" y="267004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55BCFA"/>
          </a:solidFill>
          <a:ln w="12700">
            <a:solidFill>
              <a:srgbClr val="55BCFA"/>
            </a:solidFill>
            <a:prstDash val="solid"/>
          </a:ln>
        </p:spPr>
      </p:sp>
      <p:sp>
        <p:nvSpPr>
          <p:cNvPr id="11" name="text-12"/>
          <p:cNvSpPr txBox="1"/>
          <p:nvPr/>
        </p:nvSpPr>
        <p:spPr>
          <a:xfrm>
            <a:off x="77724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9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13"/>
          <p:cNvSpPr txBox="1"/>
          <p:nvPr/>
        </p:nvSpPr>
        <p:spPr>
          <a:xfrm>
            <a:off x="1463040" y="2532888"/>
            <a:ext cx="99971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明年工作打算</a:t>
            </a:r>
            <a:endParaRPr lang="en-US" sz="2000" dirty="0"/>
          </a:p>
        </p:txBody>
      </p:sp>
      <p:sp>
        <p:nvSpPr>
          <p:cNvPr id="13" name="text-14"/>
          <p:cNvSpPr txBox="1"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城东街道文化服务中心</a:t>
            </a:r>
            <a:endParaRPr lang="en-US" sz="1000" dirty="0"/>
          </a:p>
        </p:txBody>
      </p:sp>
      <p:sp>
        <p:nvSpPr>
          <p:cNvPr id="14" name="text-15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16"/>
          <p:cNvSpPr/>
          <p:nvPr/>
        </p:nvSpPr>
        <p:spPr>
          <a:xfrm>
            <a:off x="731520" y="1554480"/>
            <a:ext cx="10058400" cy="3383280"/>
          </a:xfrm>
          <a:prstGeom prst="roundRect">
            <a:avLst>
              <a:gd name="adj" fmla="val 3243"/>
            </a:avLst>
          </a:prstGeom>
          <a:blipFill>
            <a:blip r:embed="rId2"/>
            <a:srcRect l="6000" t="22667" r="11500" b="28000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17"/>
          <p:cNvSpPr txBox="1"/>
          <p:nvPr/>
        </p:nvSpPr>
        <p:spPr>
          <a:xfrm>
            <a:off x="1097280" y="1828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55B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-18"/>
          <p:cNvSpPr txBox="1"/>
          <p:nvPr/>
        </p:nvSpPr>
        <p:spPr>
          <a:xfrm>
            <a:off x="1097280" y="2926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全年工作成效</a:t>
            </a:r>
            <a:endParaRPr lang="en-US" sz="4400" dirty="0"/>
          </a:p>
        </p:txBody>
      </p:sp>
      <p:sp>
        <p:nvSpPr>
          <p:cNvPr id="6" name="text-19"/>
          <p:cNvSpPr txBox="1"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城东街道文化服务中心</a:t>
            </a:r>
            <a:endParaRPr lang="en-US" sz="1000" dirty="0"/>
          </a:p>
        </p:txBody>
      </p:sp>
      <p:sp>
        <p:nvSpPr>
          <p:cNvPr id="7" name="text-20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21"/>
          <p:cNvSpPr/>
          <p:nvPr/>
        </p:nvSpPr>
        <p:spPr>
          <a:xfrm>
            <a:off x="365760" y="256032"/>
            <a:ext cx="11460175" cy="1298448"/>
          </a:xfrm>
          <a:prstGeom prst="roundRect">
            <a:avLst>
              <a:gd name="adj" fmla="val 8451"/>
            </a:avLst>
          </a:prstGeom>
          <a:blipFill>
            <a:blip r:embed="rId2"/>
            <a:srcRect l="3000" t="3733" r="3003" b="773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22"/>
          <p:cNvSpPr txBox="1"/>
          <p:nvPr/>
        </p:nvSpPr>
        <p:spPr>
          <a:xfrm>
            <a:off x="548640" y="3840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B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一、全年工作成效</a:t>
            </a:r>
            <a:endParaRPr lang="en-US" sz="1300" dirty="0"/>
          </a:p>
        </p:txBody>
      </p:sp>
      <p:sp>
        <p:nvSpPr>
          <p:cNvPr id="5" name="text-23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全年工作成效</a:t>
            </a:r>
            <a:endParaRPr lang="en-US" sz="3000" dirty="0"/>
          </a:p>
        </p:txBody>
      </p:sp>
      <p:grpSp>
        <p:nvGrpSpPr>
          <p:cNvPr id="28" name="C1 · 亲子共读活动48场"/>
          <p:cNvGrpSpPr/>
          <p:nvPr/>
        </p:nvGrpSpPr>
        <p:grpSpPr>
          <a:xfrm>
            <a:off x="548640" y="1691640"/>
            <a:ext cx="3484778" cy="3429000"/>
            <a:chOff x="548640" y="1691640"/>
            <a:chExt cx="3484778" cy="3429000"/>
          </a:xfrm>
        </p:grpSpPr>
        <p:sp>
          <p:nvSpPr>
            <p:cNvPr id="6" name="C1 · 亲子共读活动48场 · 1"/>
            <p:cNvSpPr/>
            <p:nvPr/>
          </p:nvSpPr>
          <p:spPr>
            <a:xfrm>
              <a:off x="548640" y="1691640"/>
              <a:ext cx="3484778" cy="3429000"/>
            </a:xfrm>
            <a:prstGeom prst="roundRect">
              <a:avLst>
                <a:gd name="adj" fmla="val 3200"/>
              </a:avLst>
            </a:prstGeom>
            <a:blipFill>
              <a:blip r:embed="rId2"/>
              <a:srcRect l="4500" t="24667" r="66918" b="25333"/>
              <a:stretch>
                <a:fillRect/>
              </a:stretch>
            </a:blipFill>
            <a:ln w="15240">
              <a:solidFill>
                <a:srgbClr val="FFFFFF">
                  <a:alpha val="25000"/>
                </a:srgbClr>
              </a:solidFill>
            </a:ln>
            <a:effectLst>
              <a:innerShdw blurRad="317500">
                <a:schemeClr val="bg1"/>
              </a:innerShdw>
            </a:effectLst>
          </p:spPr>
        </p:sp>
        <p:sp>
          <p:nvSpPr>
            <p:cNvPr id="7" name="C1 · 亲子共读活动48场 · 2"/>
            <p:cNvSpPr/>
            <p:nvPr/>
          </p:nvSpPr>
          <p:spPr>
            <a:xfrm>
              <a:off x="822960" y="1965960"/>
              <a:ext cx="420624" cy="420624"/>
            </a:xfrm>
            <a:prstGeom prst="roundRect">
              <a:avLst>
                <a:gd name="adj" fmla="val 13043"/>
              </a:avLst>
            </a:prstGeom>
            <a:solidFill>
              <a:srgbClr val="55BCFA"/>
            </a:solidFill>
            <a:ln w="12700">
              <a:solidFill>
                <a:srgbClr val="55BCFA"/>
              </a:solidFill>
              <a:prstDash val="solid"/>
            </a:ln>
          </p:spPr>
        </p:sp>
        <p:sp>
          <p:nvSpPr>
            <p:cNvPr id="8" name="C1 · 亲子共读活动48场 · 3"/>
            <p:cNvSpPr txBox="1"/>
            <p:nvPr/>
          </p:nvSpPr>
          <p:spPr>
            <a:xfrm>
              <a:off x="822960" y="1965960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E29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9" name="C1 · 亲子共读活动48场 · 4"/>
            <p:cNvSpPr txBox="1"/>
            <p:nvPr/>
          </p:nvSpPr>
          <p:spPr>
            <a:xfrm>
              <a:off x="822960" y="2514600"/>
              <a:ext cx="2936138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100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亲子共读活动48场</a:t>
              </a:r>
              <a:endParaRPr lang="en-US" sz="2100" dirty="0"/>
            </a:p>
          </p:txBody>
        </p:sp>
        <p:sp>
          <p:nvSpPr>
            <p:cNvPr id="10" name="C1 · 亲子共读活动48场 · 5"/>
            <p:cNvSpPr/>
            <p:nvPr/>
          </p:nvSpPr>
          <p:spPr>
            <a:xfrm>
              <a:off x="822960" y="3749040"/>
              <a:ext cx="2936138" cy="0"/>
            </a:xfrm>
            <a:prstGeom prst="line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  <a:prstDash val="solid"/>
            </a:ln>
          </p:spPr>
        </p:sp>
        <p:sp>
          <p:nvSpPr>
            <p:cNvPr id="11" name="C1 · 亲子共读活动48场 · 6"/>
            <p:cNvSpPr txBox="1"/>
            <p:nvPr/>
          </p:nvSpPr>
          <p:spPr>
            <a:xfrm>
              <a:off x="822960" y="3886200"/>
              <a:ext cx="293613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参与家庭1600余户</a:t>
              </a:r>
              <a:endParaRPr lang="en-US" sz="1600" dirty="0"/>
            </a:p>
          </p:txBody>
        </p:sp>
      </p:grpSp>
      <p:grpSp>
        <p:nvGrpSpPr>
          <p:cNvPr id="29" name="C2 · 新建社区书屋6处"/>
          <p:cNvGrpSpPr/>
          <p:nvPr/>
        </p:nvGrpSpPr>
        <p:grpSpPr>
          <a:xfrm>
            <a:off x="4353458" y="1691640"/>
            <a:ext cx="3484778" cy="3429000"/>
            <a:chOff x="4353458" y="1691640"/>
            <a:chExt cx="3484778" cy="3429000"/>
          </a:xfrm>
        </p:grpSpPr>
        <p:sp>
          <p:nvSpPr>
            <p:cNvPr id="12" name="C2 · 新建社区书屋6处 · 1"/>
            <p:cNvSpPr/>
            <p:nvPr/>
          </p:nvSpPr>
          <p:spPr>
            <a:xfrm>
              <a:off x="4353458" y="1691640"/>
              <a:ext cx="3484778" cy="3429000"/>
            </a:xfrm>
            <a:prstGeom prst="roundRect">
              <a:avLst>
                <a:gd name="adj" fmla="val 3200"/>
              </a:avLst>
            </a:prstGeom>
            <a:blipFill>
              <a:blip r:embed="rId2"/>
              <a:srcRect l="35707" t="24667" r="35710" b="25333"/>
              <a:stretch>
                <a:fillRect/>
              </a:stretch>
            </a:blipFill>
            <a:ln w="15240">
              <a:solidFill>
                <a:srgbClr val="FFFFFF">
                  <a:alpha val="25000"/>
                </a:srgbClr>
              </a:solidFill>
            </a:ln>
            <a:effectLst>
              <a:innerShdw blurRad="317500">
                <a:schemeClr val="bg1"/>
              </a:innerShdw>
            </a:effectLst>
          </p:spPr>
        </p:sp>
        <p:sp>
          <p:nvSpPr>
            <p:cNvPr id="13" name="C2 · 新建社区书屋6处 · 2"/>
            <p:cNvSpPr/>
            <p:nvPr/>
          </p:nvSpPr>
          <p:spPr>
            <a:xfrm>
              <a:off x="4627778" y="1965960"/>
              <a:ext cx="420624" cy="420624"/>
            </a:xfrm>
            <a:prstGeom prst="roundRect">
              <a:avLst>
                <a:gd name="adj" fmla="val 13043"/>
              </a:avLst>
            </a:prstGeom>
            <a:solidFill>
              <a:srgbClr val="55BCFA"/>
            </a:solidFill>
            <a:ln w="12700">
              <a:solidFill>
                <a:srgbClr val="55BCFA"/>
              </a:solidFill>
              <a:prstDash val="solid"/>
            </a:ln>
          </p:spPr>
        </p:sp>
        <p:sp>
          <p:nvSpPr>
            <p:cNvPr id="14" name="C2 · 新建社区书屋6处 · 3"/>
            <p:cNvSpPr txBox="1"/>
            <p:nvPr/>
          </p:nvSpPr>
          <p:spPr>
            <a:xfrm>
              <a:off x="4627778" y="1965960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E29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5" name="C2 · 新建社区书屋6处 · 4"/>
            <p:cNvSpPr txBox="1"/>
            <p:nvPr/>
          </p:nvSpPr>
          <p:spPr>
            <a:xfrm>
              <a:off x="4627778" y="2514600"/>
              <a:ext cx="2936138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100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新建社区书屋6处</a:t>
              </a:r>
              <a:endParaRPr lang="en-US" sz="2100" dirty="0"/>
            </a:p>
          </p:txBody>
        </p:sp>
        <p:sp>
          <p:nvSpPr>
            <p:cNvPr id="16" name="C2 · 新建社区书屋6处 · 5"/>
            <p:cNvSpPr/>
            <p:nvPr/>
          </p:nvSpPr>
          <p:spPr>
            <a:xfrm>
              <a:off x="4627778" y="3749040"/>
              <a:ext cx="2936138" cy="0"/>
            </a:xfrm>
            <a:prstGeom prst="line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  <a:prstDash val="solid"/>
            </a:ln>
          </p:spPr>
        </p:sp>
        <p:sp>
          <p:nvSpPr>
            <p:cNvPr id="17" name="C2 · 新建社区书屋6处 · 6"/>
            <p:cNvSpPr txBox="1"/>
            <p:nvPr/>
          </p:nvSpPr>
          <p:spPr>
            <a:xfrm>
              <a:off x="4627778" y="3886200"/>
              <a:ext cx="293613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新增图书2.3万册</a:t>
              </a:r>
              <a:endParaRPr lang="en-US" sz="1600" dirty="0"/>
            </a:p>
          </p:txBody>
        </p:sp>
      </p:grpSp>
      <p:grpSp>
        <p:nvGrpSpPr>
          <p:cNvPr id="30" name="C3 · 招募阅读志愿者210名"/>
          <p:cNvGrpSpPr/>
          <p:nvPr/>
        </p:nvGrpSpPr>
        <p:grpSpPr>
          <a:xfrm>
            <a:off x="8158277" y="1691640"/>
            <a:ext cx="3484778" cy="3429000"/>
            <a:chOff x="8158277" y="1691640"/>
            <a:chExt cx="3484778" cy="3429000"/>
          </a:xfrm>
        </p:grpSpPr>
        <p:sp>
          <p:nvSpPr>
            <p:cNvPr id="18" name="C3 · 招募阅读志愿者210名 · 1"/>
            <p:cNvSpPr/>
            <p:nvPr/>
          </p:nvSpPr>
          <p:spPr>
            <a:xfrm>
              <a:off x="8158277" y="1691640"/>
              <a:ext cx="3484778" cy="3429000"/>
            </a:xfrm>
            <a:prstGeom prst="roundRect">
              <a:avLst>
                <a:gd name="adj" fmla="val 3200"/>
              </a:avLst>
            </a:prstGeom>
            <a:blipFill>
              <a:blip r:embed="rId2"/>
              <a:srcRect l="66915" t="24667" r="4503" b="25333"/>
              <a:stretch>
                <a:fillRect/>
              </a:stretch>
            </a:blipFill>
            <a:ln w="15240">
              <a:solidFill>
                <a:srgbClr val="FFFFFF">
                  <a:alpha val="25000"/>
                </a:srgbClr>
              </a:solidFill>
            </a:ln>
            <a:effectLst>
              <a:innerShdw blurRad="317500">
                <a:schemeClr val="bg1"/>
              </a:innerShdw>
            </a:effectLst>
          </p:spPr>
        </p:sp>
        <p:sp>
          <p:nvSpPr>
            <p:cNvPr id="19" name="C3 · 招募阅读志愿者210名 · 2"/>
            <p:cNvSpPr/>
            <p:nvPr/>
          </p:nvSpPr>
          <p:spPr>
            <a:xfrm>
              <a:off x="8432597" y="1965960"/>
              <a:ext cx="420624" cy="420624"/>
            </a:xfrm>
            <a:prstGeom prst="roundRect">
              <a:avLst>
                <a:gd name="adj" fmla="val 13043"/>
              </a:avLst>
            </a:prstGeom>
            <a:solidFill>
              <a:srgbClr val="55BCFA"/>
            </a:solidFill>
            <a:ln w="12700">
              <a:solidFill>
                <a:srgbClr val="55BCFA"/>
              </a:solidFill>
              <a:prstDash val="solid"/>
            </a:ln>
          </p:spPr>
        </p:sp>
        <p:sp>
          <p:nvSpPr>
            <p:cNvPr id="20" name="C3 · 招募阅读志愿者210名 · 3"/>
            <p:cNvSpPr txBox="1"/>
            <p:nvPr/>
          </p:nvSpPr>
          <p:spPr>
            <a:xfrm>
              <a:off x="8432597" y="1965960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E294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1" name="C3 · 招募阅读志愿者210名 · 4"/>
            <p:cNvSpPr txBox="1"/>
            <p:nvPr/>
          </p:nvSpPr>
          <p:spPr>
            <a:xfrm>
              <a:off x="8432597" y="2514600"/>
              <a:ext cx="2936138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100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招募阅读志愿者210名</a:t>
              </a:r>
              <a:endParaRPr lang="en-US" sz="2100" dirty="0"/>
            </a:p>
          </p:txBody>
        </p:sp>
        <p:sp>
          <p:nvSpPr>
            <p:cNvPr id="22" name="C3 · 招募阅读志愿者210名 · 5"/>
            <p:cNvSpPr/>
            <p:nvPr/>
          </p:nvSpPr>
          <p:spPr>
            <a:xfrm>
              <a:off x="8432597" y="3749040"/>
              <a:ext cx="2936138" cy="0"/>
            </a:xfrm>
            <a:prstGeom prst="line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  <a:prstDash val="solid"/>
            </a:ln>
          </p:spPr>
        </p:sp>
        <p:sp>
          <p:nvSpPr>
            <p:cNvPr id="23" name="C3 · 招募阅读志愿者210名 · 6"/>
            <p:cNvSpPr txBox="1"/>
            <p:nvPr/>
          </p:nvSpPr>
          <p:spPr>
            <a:xfrm>
              <a:off x="8432597" y="3886200"/>
              <a:ext cx="2936138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lnSpc>
                  <a:spcPct val="130000"/>
                </a:lnSpc>
                <a:buNone/>
              </a:pPr>
              <a:r>
                <a:rPr lang="en-US" sz="16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累计服务4800小时</a:t>
              </a:r>
              <a:endParaRPr lang="en-US" sz="1600" dirty="0"/>
            </a:p>
          </p:txBody>
        </p:sp>
      </p:grpSp>
      <p:grpSp>
        <p:nvGrpSpPr>
          <p:cNvPr id="31" name="K · 结论"/>
          <p:cNvGrpSpPr/>
          <p:nvPr/>
        </p:nvGrpSpPr>
        <p:grpSpPr>
          <a:xfrm>
            <a:off x="548640" y="5285232"/>
            <a:ext cx="11094415" cy="676656"/>
            <a:chOff x="548640" y="5285232"/>
            <a:chExt cx="11094415" cy="676656"/>
          </a:xfrm>
        </p:grpSpPr>
        <p:sp>
          <p:nvSpPr>
            <p:cNvPr id="24" name="K · 结论 · 1"/>
            <p:cNvSpPr/>
            <p:nvPr/>
          </p:nvSpPr>
          <p:spPr>
            <a:xfrm>
              <a:off x="548640" y="5285232"/>
              <a:ext cx="11094415" cy="676656"/>
            </a:xfrm>
            <a:prstGeom prst="roundRect">
              <a:avLst>
                <a:gd name="adj" fmla="val 16216"/>
              </a:avLst>
            </a:prstGeom>
            <a:blipFill>
              <a:blip r:embed="rId2"/>
              <a:srcRect l="4500" t="77067" r="4503" b="13067"/>
              <a:stretch>
                <a:fillRect/>
              </a:stretch>
            </a:blipFill>
            <a:ln w="15240">
              <a:solidFill>
                <a:srgbClr val="FFFFFF">
                  <a:alpha val="25000"/>
                </a:srgbClr>
              </a:solidFill>
            </a:ln>
            <a:effectLst>
              <a:innerShdw blurRad="317500">
                <a:schemeClr val="bg1"/>
              </a:innerShdw>
            </a:effectLst>
          </p:spPr>
        </p:sp>
        <p:sp>
          <p:nvSpPr>
            <p:cNvPr id="25" name="K · 结论 · 2"/>
            <p:cNvSpPr txBox="1"/>
            <p:nvPr/>
          </p:nvSpPr>
          <p:spPr>
            <a:xfrm>
              <a:off x="822960" y="5349240"/>
              <a:ext cx="1054577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55BCF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阅读已经成为社区居民的日常生活方式。</a:t>
              </a:r>
              <a:endParaRPr lang="en-US" sz="2000" dirty="0"/>
            </a:p>
          </p:txBody>
        </p:sp>
      </p:grpSp>
      <p:sp>
        <p:nvSpPr>
          <p:cNvPr id="26" name="text-44"/>
          <p:cNvSpPr txBox="1"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城东街道文化服务中心</a:t>
            </a:r>
            <a:endParaRPr lang="en-US" sz="1000" dirty="0"/>
          </a:p>
        </p:txBody>
      </p:sp>
      <p:sp>
        <p:nvSpPr>
          <p:cNvPr id="27" name="text-45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27" dur="indefinite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0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46"/>
          <p:cNvSpPr/>
          <p:nvPr/>
        </p:nvSpPr>
        <p:spPr>
          <a:xfrm>
            <a:off x="365760" y="256032"/>
            <a:ext cx="11460175" cy="1298448"/>
          </a:xfrm>
          <a:prstGeom prst="roundRect">
            <a:avLst>
              <a:gd name="adj" fmla="val 8451"/>
            </a:avLst>
          </a:prstGeom>
          <a:blipFill>
            <a:blip r:embed="rId2"/>
            <a:srcRect l="3000" t="3733" r="3003" b="773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47"/>
          <p:cNvSpPr txBox="1"/>
          <p:nvPr/>
        </p:nvSpPr>
        <p:spPr>
          <a:xfrm>
            <a:off x="548640" y="3840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B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二、明年工作打算</a:t>
            </a:r>
            <a:endParaRPr lang="en-US" sz="1300" dirty="0"/>
          </a:p>
        </p:txBody>
      </p:sp>
      <p:sp>
        <p:nvSpPr>
          <p:cNvPr id="5" name="text-48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明年工作打算</a:t>
            </a:r>
            <a:endParaRPr lang="en-US" sz="3000" dirty="0"/>
          </a:p>
        </p:txBody>
      </p:sp>
      <p:sp>
        <p:nvSpPr>
          <p:cNvPr id="6" name="glass-49"/>
          <p:cNvSpPr/>
          <p:nvPr/>
        </p:nvSpPr>
        <p:spPr>
          <a:xfrm>
            <a:off x="548640" y="1783080"/>
            <a:ext cx="11094415" cy="1371600"/>
          </a:xfrm>
          <a:prstGeom prst="roundRect">
            <a:avLst>
              <a:gd name="adj" fmla="val 8000"/>
            </a:avLst>
          </a:prstGeom>
          <a:blipFill>
            <a:blip r:embed="rId2"/>
            <a:srcRect l="4500" t="26000" r="4503" b="54000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7" name="mark"/>
          <p:cNvSpPr/>
          <p:nvPr/>
        </p:nvSpPr>
        <p:spPr>
          <a:xfrm>
            <a:off x="822960" y="2057400"/>
            <a:ext cx="73152" cy="822960"/>
          </a:xfrm>
          <a:prstGeom prst="rect">
            <a:avLst/>
          </a:prstGeom>
          <a:solidFill>
            <a:srgbClr val="55BCFA"/>
          </a:solidFill>
          <a:ln/>
        </p:spPr>
      </p:sp>
      <p:sp>
        <p:nvSpPr>
          <p:cNvPr id="8" name="text-50"/>
          <p:cNvSpPr txBox="1"/>
          <p:nvPr/>
        </p:nvSpPr>
        <p:spPr>
          <a:xfrm>
            <a:off x="1097280" y="1783080"/>
            <a:ext cx="10271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把书屋延伸到每一个小区，让居民步行十分钟就能借到书。</a:t>
            </a:r>
            <a:endParaRPr lang="en-US" sz="2200" dirty="0"/>
          </a:p>
        </p:txBody>
      </p:sp>
      <p:sp>
        <p:nvSpPr>
          <p:cNvPr id="9" name="text-51"/>
          <p:cNvSpPr txBox="1"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城东街道文化服务中心</a:t>
            </a:r>
            <a:endParaRPr lang="en-US" sz="1000" dirty="0"/>
          </a:p>
        </p:txBody>
      </p:sp>
      <p:sp>
        <p:nvSpPr>
          <p:cNvPr id="10" name="text-52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FEE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lass-53"/>
          <p:cNvSpPr/>
          <p:nvPr/>
        </p:nvSpPr>
        <p:spPr>
          <a:xfrm>
            <a:off x="731520" y="2011680"/>
            <a:ext cx="8229600" cy="2011680"/>
          </a:xfrm>
          <a:prstGeom prst="roundRect">
            <a:avLst>
              <a:gd name="adj" fmla="val 5455"/>
            </a:avLst>
          </a:prstGeom>
          <a:blipFill>
            <a:blip r:embed="rId2"/>
            <a:srcRect l="6000" t="29333" r="26500" b="41333"/>
            <a:stretch>
              <a:fillRect/>
            </a:stretch>
          </a:blipFill>
          <a:ln w="15240">
            <a:solidFill>
              <a:srgbClr val="FFFFFF">
                <a:alpha val="25000"/>
              </a:srgbClr>
            </a:solidFill>
          </a:ln>
          <a:effectLst>
            <a:innerShdw blurRad="317500">
              <a:schemeClr val="bg1"/>
            </a:innerShdw>
          </a:effectLst>
        </p:spPr>
      </p:sp>
      <p:sp>
        <p:nvSpPr>
          <p:cNvPr id="4" name="text-54"/>
          <p:cNvSpPr txBox="1"/>
          <p:nvPr/>
        </p:nvSpPr>
        <p:spPr>
          <a:xfrm>
            <a:off x="1097280" y="23774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arman 自然色 · 翠鸟">
      <a:dk1>
        <a:srgbClr val="273239"/>
      </a:dk1>
      <a:lt1>
        <a:srgbClr val="FFFFFF"/>
      </a:lt1>
      <a:dk2>
        <a:srgbClr val="0E294A"/>
      </a:dk2>
      <a:lt2>
        <a:srgbClr val="EFF6FB"/>
      </a:lt2>
      <a:accent1>
        <a:srgbClr val="55BCFA"/>
      </a:accent1>
      <a:accent2>
        <a:srgbClr val="2C6485"/>
      </a:accent2>
      <a:accent3>
        <a:srgbClr val="0E294A"/>
      </a:accent3>
      <a:accent4>
        <a:srgbClr val="566670"/>
      </a:accent4>
      <a:accent5>
        <a:srgbClr val="AC5107"/>
      </a:accent5>
      <a:accent6>
        <a:srgbClr val="DFEEF8"/>
      </a:accent6>
      <a:hlink>
        <a:srgbClr val="2C6485"/>
      </a:hlink>
      <a:folHlink>
        <a:srgbClr val="56667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城东街道文化服务中心</dc:title>
  <dc:subject>PptxGenJS Presentation</dc:subject>
  <dc:creator/>
  <cp:lastModifiedBy/>
  <cp:revision>1</cp:revision>
  <dcterms:created xsi:type="dcterms:W3CDTF">2026-10-20T12:06:23Z</dcterms:created>
  <dcterms:modified xsi:type="dcterms:W3CDTF">2026-10-20T12:06:23Z</dcterms:modified>
</cp:coreProperties>
</file>